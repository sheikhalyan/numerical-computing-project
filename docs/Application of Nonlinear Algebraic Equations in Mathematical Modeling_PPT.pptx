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latsi" panose="020B0604020202020204" charset="0"/>
      <p:regular r:id="rId13"/>
    </p:embeddedFont>
    <p:embeddedFont>
      <p:font typeface="Open San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6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2" name="TextBox 12"/>
          <p:cNvSpPr txBox="1"/>
          <p:nvPr/>
        </p:nvSpPr>
        <p:spPr>
          <a:xfrm>
            <a:off x="4447844" y="2667827"/>
            <a:ext cx="12997564" cy="2211392"/>
          </a:xfrm>
          <a:prstGeom prst="rect">
            <a:avLst/>
          </a:prstGeom>
        </p:spPr>
        <p:txBody>
          <a:bodyPr lIns="0" tIns="0" rIns="0" bIns="0" rtlCol="0" anchor="t">
            <a:spAutoFit/>
          </a:bodyPr>
          <a:lstStyle/>
          <a:p>
            <a:pPr algn="ctr">
              <a:lnSpc>
                <a:spcPts val="5746"/>
              </a:lnSpc>
            </a:pPr>
            <a:r>
              <a:rPr lang="en-US" sz="5924">
                <a:solidFill>
                  <a:srgbClr val="000000"/>
                </a:solidFill>
                <a:latin typeface="Alatsi"/>
              </a:rPr>
              <a:t>APPLICATION OF NONLINEAR ALGEBRAIC EQUATIONS IN MATHEMATICAL MODELING </a:t>
            </a:r>
          </a:p>
        </p:txBody>
      </p:sp>
      <p:sp>
        <p:nvSpPr>
          <p:cNvPr id="13" name="Freeform 13"/>
          <p:cNvSpPr/>
          <p:nvPr/>
        </p:nvSpPr>
        <p:spPr>
          <a:xfrm>
            <a:off x="12646898"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TextBox 14"/>
          <p:cNvSpPr txBox="1"/>
          <p:nvPr/>
        </p:nvSpPr>
        <p:spPr>
          <a:xfrm>
            <a:off x="4114800" y="8115300"/>
            <a:ext cx="12625348" cy="978279"/>
          </a:xfrm>
          <a:prstGeom prst="rect">
            <a:avLst/>
          </a:prstGeom>
        </p:spPr>
        <p:txBody>
          <a:bodyPr lIns="0" tIns="0" rIns="0" bIns="0" rtlCol="0" anchor="t">
            <a:spAutoFit/>
          </a:bodyPr>
          <a:lstStyle/>
          <a:p>
            <a:pPr algn="ctr">
              <a:lnSpc>
                <a:spcPts val="8029"/>
              </a:lnSpc>
            </a:pPr>
            <a:r>
              <a:rPr lang="en-US" sz="5735" dirty="0">
                <a:solidFill>
                  <a:srgbClr val="000000"/>
                </a:solidFill>
                <a:latin typeface="Alatsi Bold"/>
              </a:rPr>
              <a:t>By : Sheikh Alyan</a:t>
            </a:r>
          </a:p>
        </p:txBody>
      </p:sp>
      <p:sp>
        <p:nvSpPr>
          <p:cNvPr id="16" name="Freeform 16"/>
          <p:cNvSpPr/>
          <p:nvPr/>
        </p:nvSpPr>
        <p:spPr>
          <a:xfrm>
            <a:off x="11118095"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791340" y="2895980"/>
            <a:ext cx="14705320" cy="5180193"/>
          </a:xfrm>
          <a:prstGeom prst="rect">
            <a:avLst/>
          </a:prstGeom>
        </p:spPr>
        <p:txBody>
          <a:bodyPr lIns="0" tIns="0" rIns="0" bIns="0" rtlCol="0" anchor="t">
            <a:spAutoFit/>
          </a:bodyPr>
          <a:lstStyle/>
          <a:p>
            <a:pPr marL="902546" lvl="1" indent="-451273" algn="l">
              <a:lnSpc>
                <a:spcPts val="5852"/>
              </a:lnSpc>
              <a:buFont typeface="Arial"/>
              <a:buChar char="•"/>
            </a:pPr>
            <a:r>
              <a:rPr lang="en-US" sz="4180">
                <a:solidFill>
                  <a:srgbClr val="000000"/>
                </a:solidFill>
                <a:latin typeface="Alatsi Bold"/>
              </a:rPr>
              <a:t>Nonlinear algebraic equations involve variables raised to powers other than one or in nonlinear functions.</a:t>
            </a:r>
          </a:p>
          <a:p>
            <a:pPr marL="902546" lvl="1" indent="-451273" algn="l">
              <a:lnSpc>
                <a:spcPts val="5852"/>
              </a:lnSpc>
              <a:buFont typeface="Arial"/>
              <a:buChar char="•"/>
            </a:pPr>
            <a:r>
              <a:rPr lang="en-US" sz="4180">
                <a:solidFill>
                  <a:srgbClr val="000000"/>
                </a:solidFill>
                <a:latin typeface="Alatsi Bold"/>
              </a:rPr>
              <a:t>These equations are fundamental in various scientific and engineering disciplines for modeling complex systems.</a:t>
            </a:r>
          </a:p>
          <a:p>
            <a:pPr marL="902546" lvl="1" indent="-451273" algn="l">
              <a:lnSpc>
                <a:spcPts val="5852"/>
              </a:lnSpc>
              <a:buFont typeface="Arial"/>
              <a:buChar char="•"/>
            </a:pPr>
            <a:r>
              <a:rPr lang="en-US" sz="4180">
                <a:solidFill>
                  <a:srgbClr val="000000"/>
                </a:solidFill>
                <a:latin typeface="Alatsi Bold"/>
              </a:rPr>
              <a:t>Solving nonlinear equations analytically can be challenging, often requiring iterative numerical methods.</a:t>
            </a:r>
          </a:p>
          <a:p>
            <a:pPr algn="l">
              <a:lnSpc>
                <a:spcPts val="5852"/>
              </a:lnSpc>
            </a:pPr>
            <a:endParaRPr lang="en-US" sz="4180">
              <a:solidFill>
                <a:srgbClr val="000000"/>
              </a:solidFill>
              <a:latin typeface="Alatsi Bold"/>
            </a:endParaRPr>
          </a:p>
        </p:txBody>
      </p:sp>
      <p:sp>
        <p:nvSpPr>
          <p:cNvPr id="3" name="AutoShape 3"/>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4" name="Freeform 4"/>
          <p:cNvSpPr/>
          <p:nvPr/>
        </p:nvSpPr>
        <p:spPr>
          <a:xfrm>
            <a:off x="13764167" y="6208199"/>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AutoShape 5"/>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6" name="TextBox 6"/>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INTRO</a:t>
            </a:r>
          </a:p>
        </p:txBody>
      </p:sp>
      <p:grpSp>
        <p:nvGrpSpPr>
          <p:cNvPr id="7" name="Group 7"/>
          <p:cNvGrpSpPr/>
          <p:nvPr/>
        </p:nvGrpSpPr>
        <p:grpSpPr>
          <a:xfrm>
            <a:off x="15859155" y="0"/>
            <a:ext cx="1562612" cy="1673225"/>
            <a:chOff x="0" y="0"/>
            <a:chExt cx="2083482" cy="2230967"/>
          </a:xfrm>
        </p:grpSpPr>
        <p:grpSp>
          <p:nvGrpSpPr>
            <p:cNvPr id="8" name="Group 8"/>
            <p:cNvGrpSpPr/>
            <p:nvPr/>
          </p:nvGrpSpPr>
          <p:grpSpPr>
            <a:xfrm>
              <a:off x="75599" y="0"/>
              <a:ext cx="1932284" cy="2230967"/>
              <a:chOff x="0" y="0"/>
              <a:chExt cx="703982" cy="812800"/>
            </a:xfrm>
          </p:grpSpPr>
          <p:sp>
            <p:nvSpPr>
              <p:cNvPr id="9" name="Freeform 9"/>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0" name="TextBox 10"/>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1</a:t>
              </a:r>
            </a:p>
          </p:txBody>
        </p:sp>
      </p:grpSp>
      <p:sp>
        <p:nvSpPr>
          <p:cNvPr id="12" name="Freeform 12"/>
          <p:cNvSpPr/>
          <p:nvPr/>
        </p:nvSpPr>
        <p:spPr>
          <a:xfrm>
            <a:off x="-2627572" y="-733336"/>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2553980" y="866775"/>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OVERVIEW</a:t>
            </a:r>
          </a:p>
        </p:txBody>
      </p:sp>
      <p:sp>
        <p:nvSpPr>
          <p:cNvPr id="3" name="TextBox 3"/>
          <p:cNvSpPr txBox="1"/>
          <p:nvPr/>
        </p:nvSpPr>
        <p:spPr>
          <a:xfrm>
            <a:off x="1028700" y="3248507"/>
            <a:ext cx="15342484" cy="3258820"/>
          </a:xfrm>
          <a:prstGeom prst="rect">
            <a:avLst/>
          </a:prstGeom>
        </p:spPr>
        <p:txBody>
          <a:bodyPr lIns="0" tIns="0" rIns="0" bIns="0" rtlCol="0" anchor="t">
            <a:spAutoFit/>
          </a:bodyPr>
          <a:lstStyle/>
          <a:p>
            <a:pPr algn="l">
              <a:lnSpc>
                <a:spcPts val="5179"/>
              </a:lnSpc>
            </a:pPr>
            <a:r>
              <a:rPr lang="en-US" sz="3699">
                <a:solidFill>
                  <a:srgbClr val="000000"/>
                </a:solidFill>
                <a:latin typeface="Alatsi Bold"/>
              </a:rPr>
              <a:t>Nonlinear algebraic equations are equations in which the unknowns appear as variables raised to powers or in nonlinear functions. These equations arise in various fields, including physics, engineering, biology, and economics. Solving these equations is crucial for understanding complex systems and predicting their behavior.</a:t>
            </a:r>
          </a:p>
        </p:txBody>
      </p:sp>
      <p:sp>
        <p:nvSpPr>
          <p:cNvPr id="4" name="AutoShape 4"/>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5" name="AutoShape 5"/>
          <p:cNvSpPr/>
          <p:nvPr/>
        </p:nvSpPr>
        <p:spPr>
          <a:xfrm>
            <a:off x="11430169" y="9061267"/>
            <a:ext cx="7105264" cy="19050"/>
          </a:xfrm>
          <a:prstGeom prst="line">
            <a:avLst/>
          </a:prstGeom>
          <a:ln w="114300" cap="flat">
            <a:solidFill>
              <a:srgbClr val="9FC3D0"/>
            </a:solidFill>
            <a:prstDash val="solid"/>
            <a:headEnd type="none" w="sm" len="sm"/>
            <a:tailEnd type="none" w="sm" len="sm"/>
          </a:ln>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2</a:t>
              </a:r>
            </a:p>
          </p:txBody>
        </p:sp>
      </p:grpSp>
      <p:sp>
        <p:nvSpPr>
          <p:cNvPr id="11" name="Freeform 11"/>
          <p:cNvSpPr/>
          <p:nvPr/>
        </p:nvSpPr>
        <p:spPr>
          <a:xfrm>
            <a:off x="-2845001" y="434334"/>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3601700" y="614206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AutoShape 2"/>
          <p:cNvSpPr/>
          <p:nvPr/>
        </p:nvSpPr>
        <p:spPr>
          <a:xfrm>
            <a:off x="-260599" y="9061267"/>
            <a:ext cx="7105264" cy="19050"/>
          </a:xfrm>
          <a:prstGeom prst="line">
            <a:avLst/>
          </a:prstGeom>
          <a:ln w="114300" cap="flat">
            <a:solidFill>
              <a:srgbClr val="9FC3D0"/>
            </a:solidFill>
            <a:prstDash val="solid"/>
            <a:headEnd type="none" w="sm" len="sm"/>
            <a:tailEnd type="none" w="sm" len="sm"/>
          </a:ln>
        </p:spPr>
      </p:sp>
      <p:sp>
        <p:nvSpPr>
          <p:cNvPr id="3" name="AutoShape 3"/>
          <p:cNvSpPr/>
          <p:nvPr/>
        </p:nvSpPr>
        <p:spPr>
          <a:xfrm>
            <a:off x="11430169" y="9061267"/>
            <a:ext cx="7105264" cy="19050"/>
          </a:xfrm>
          <a:prstGeom prst="line">
            <a:avLst/>
          </a:prstGeom>
          <a:ln w="114300" cap="flat">
            <a:solidFill>
              <a:srgbClr val="9FC3D0"/>
            </a:solidFill>
            <a:prstDash val="solid"/>
            <a:headEnd type="none" w="sm" len="sm"/>
            <a:tailEnd type="none" w="sm" len="sm"/>
          </a:ln>
        </p:spPr>
      </p:sp>
      <p:sp>
        <p:nvSpPr>
          <p:cNvPr id="4" name="Freeform 4"/>
          <p:cNvSpPr/>
          <p:nvPr/>
        </p:nvSpPr>
        <p:spPr>
          <a:xfrm>
            <a:off x="12982861" y="593323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2553980" y="222250"/>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PRACTICAL EXAMPLES</a:t>
            </a:r>
          </a:p>
        </p:txBody>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3</a:t>
              </a:r>
            </a:p>
          </p:txBody>
        </p:sp>
      </p:grpSp>
      <p:sp>
        <p:nvSpPr>
          <p:cNvPr id="11" name="Freeform 11"/>
          <p:cNvSpPr/>
          <p:nvPr/>
        </p:nvSpPr>
        <p:spPr>
          <a:xfrm>
            <a:off x="-3482681" y="-210192"/>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1028700" y="2062800"/>
            <a:ext cx="16230600" cy="7362497"/>
          </a:xfrm>
          <a:prstGeom prst="rect">
            <a:avLst/>
          </a:prstGeom>
        </p:spPr>
        <p:txBody>
          <a:bodyPr lIns="0" tIns="0" rIns="0" bIns="0" rtlCol="0" anchor="t">
            <a:spAutoFit/>
          </a:bodyPr>
          <a:lstStyle/>
          <a:p>
            <a:pPr marL="902545" lvl="1" indent="-451273" algn="l">
              <a:lnSpc>
                <a:spcPts val="5852"/>
              </a:lnSpc>
              <a:buFont typeface="Arial"/>
              <a:buChar char="•"/>
            </a:pPr>
            <a:r>
              <a:rPr lang="en-US" sz="4180">
                <a:solidFill>
                  <a:srgbClr val="000000"/>
                </a:solidFill>
                <a:latin typeface="Alatsi Bold"/>
              </a:rPr>
              <a:t>Physics: Nonlinear equations model wave propagation in complex mediums, such as sound waves in air or seismic waves in the ground.</a:t>
            </a:r>
          </a:p>
          <a:p>
            <a:pPr marL="902545" lvl="1" indent="-451273" algn="l">
              <a:lnSpc>
                <a:spcPts val="5852"/>
              </a:lnSpc>
              <a:buFont typeface="Arial"/>
              <a:buChar char="•"/>
            </a:pPr>
            <a:r>
              <a:rPr lang="en-US" sz="4180">
                <a:solidFill>
                  <a:srgbClr val="000000"/>
                </a:solidFill>
                <a:latin typeface="Alatsi Bold"/>
              </a:rPr>
              <a:t>Engineering: Nonlinear equations describe the behavior of electrical circuits, including the interactions of different components.</a:t>
            </a:r>
          </a:p>
          <a:p>
            <a:pPr marL="902545" lvl="1" indent="-451273" algn="l">
              <a:lnSpc>
                <a:spcPts val="5852"/>
              </a:lnSpc>
              <a:buFont typeface="Arial"/>
              <a:buChar char="•"/>
            </a:pPr>
            <a:r>
              <a:rPr lang="en-US" sz="4180">
                <a:solidFill>
                  <a:srgbClr val="000000"/>
                </a:solidFill>
                <a:latin typeface="Alatsi Bold"/>
              </a:rPr>
              <a:t>Biology: Population dynamics can be modeled using nonlinear equations to understand how populations grow and interact in ecosystems.</a:t>
            </a:r>
          </a:p>
          <a:p>
            <a:pPr algn="l">
              <a:lnSpc>
                <a:spcPts val="5852"/>
              </a:lnSpc>
            </a:pPr>
            <a:endParaRPr lang="en-US" sz="4180">
              <a:solidFill>
                <a:srgbClr val="000000"/>
              </a:solidFill>
              <a:latin typeface="Alatsi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3918390" y="866775"/>
            <a:ext cx="1045121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NUMERICAL METHODS</a:t>
            </a:r>
          </a:p>
        </p:txBody>
      </p:sp>
      <p:sp>
        <p:nvSpPr>
          <p:cNvPr id="3" name="TextBox 3"/>
          <p:cNvSpPr txBox="1"/>
          <p:nvPr/>
        </p:nvSpPr>
        <p:spPr>
          <a:xfrm>
            <a:off x="2023994" y="2462626"/>
            <a:ext cx="14240013" cy="7409053"/>
          </a:xfrm>
          <a:prstGeom prst="rect">
            <a:avLst/>
          </a:prstGeom>
        </p:spPr>
        <p:txBody>
          <a:bodyPr lIns="0" tIns="0" rIns="0" bIns="0" rtlCol="0" anchor="t">
            <a:spAutoFit/>
          </a:bodyPr>
          <a:lstStyle/>
          <a:p>
            <a:pPr marL="902461" lvl="1" indent="-451231" algn="l">
              <a:lnSpc>
                <a:spcPts val="5851"/>
              </a:lnSpc>
              <a:buFont typeface="Arial"/>
              <a:buChar char="•"/>
            </a:pPr>
            <a:r>
              <a:rPr lang="en-US" sz="4179" u="sng">
                <a:solidFill>
                  <a:srgbClr val="000000"/>
                </a:solidFill>
                <a:latin typeface="Alatsi Bold"/>
              </a:rPr>
              <a:t>Newton's Method:</a:t>
            </a:r>
            <a:r>
              <a:rPr lang="en-US" sz="4179">
                <a:solidFill>
                  <a:srgbClr val="000000"/>
                </a:solidFill>
                <a:latin typeface="Alatsi Bold"/>
              </a:rPr>
              <a:t> An iterative technique for finding roots of real-valued functions, using linear approximation for convergence.</a:t>
            </a:r>
          </a:p>
          <a:p>
            <a:pPr marL="902461" lvl="1" indent="-451231" algn="l">
              <a:lnSpc>
                <a:spcPts val="5851"/>
              </a:lnSpc>
              <a:buFont typeface="Arial"/>
              <a:buChar char="•"/>
            </a:pPr>
            <a:r>
              <a:rPr lang="en-US" sz="4179" u="sng">
                <a:solidFill>
                  <a:srgbClr val="000000"/>
                </a:solidFill>
                <a:latin typeface="Alatsi Bold"/>
              </a:rPr>
              <a:t>Bisection Method:</a:t>
            </a:r>
            <a:r>
              <a:rPr lang="en-US" sz="4179">
                <a:solidFill>
                  <a:srgbClr val="000000"/>
                </a:solidFill>
                <a:latin typeface="Alatsi Bold"/>
              </a:rPr>
              <a:t> Divides an interval in half and selects the subinterval where the function changes sign, converging linearly.</a:t>
            </a:r>
          </a:p>
          <a:p>
            <a:pPr marL="902461" lvl="1" indent="-451231" algn="l">
              <a:lnSpc>
                <a:spcPts val="5851"/>
              </a:lnSpc>
              <a:buFont typeface="Arial"/>
              <a:buChar char="•"/>
            </a:pPr>
            <a:r>
              <a:rPr lang="en-US" sz="4179" u="sng">
                <a:solidFill>
                  <a:srgbClr val="000000"/>
                </a:solidFill>
                <a:latin typeface="Alatsi Bold"/>
              </a:rPr>
              <a:t>Secant Method:</a:t>
            </a:r>
            <a:r>
              <a:rPr lang="en-US" sz="4179">
                <a:solidFill>
                  <a:srgbClr val="000000"/>
                </a:solidFill>
                <a:latin typeface="Alatsi Bold"/>
              </a:rPr>
              <a:t> An iterative method using an approximation of the derivative, converging superlinearly.</a:t>
            </a:r>
          </a:p>
          <a:p>
            <a:pPr algn="l">
              <a:lnSpc>
                <a:spcPts val="5851"/>
              </a:lnSpc>
            </a:pPr>
            <a:endParaRPr lang="en-US" sz="4179">
              <a:solidFill>
                <a:srgbClr val="000000"/>
              </a:solidFill>
              <a:latin typeface="Alatsi Bold"/>
            </a:endParaRPr>
          </a:p>
        </p:txBody>
      </p:sp>
      <p:sp>
        <p:nvSpPr>
          <p:cNvPr id="4" name="AutoShape 4"/>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sp>
        <p:nvSpPr>
          <p:cNvPr id="5" name="AutoShape 5"/>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grpSp>
        <p:nvGrpSpPr>
          <p:cNvPr id="6" name="Group 6"/>
          <p:cNvGrpSpPr/>
          <p:nvPr/>
        </p:nvGrpSpPr>
        <p:grpSpPr>
          <a:xfrm>
            <a:off x="15859155" y="0"/>
            <a:ext cx="1562612" cy="1673225"/>
            <a:chOff x="0" y="0"/>
            <a:chExt cx="2083482" cy="2230967"/>
          </a:xfrm>
        </p:grpSpPr>
        <p:grpSp>
          <p:nvGrpSpPr>
            <p:cNvPr id="7" name="Group 7"/>
            <p:cNvGrpSpPr/>
            <p:nvPr/>
          </p:nvGrpSpPr>
          <p:grpSpPr>
            <a:xfrm>
              <a:off x="75599" y="0"/>
              <a:ext cx="1932284" cy="2230967"/>
              <a:chOff x="0" y="0"/>
              <a:chExt cx="703982" cy="812800"/>
            </a:xfrm>
          </p:grpSpPr>
          <p:sp>
            <p:nvSpPr>
              <p:cNvPr id="8" name="Freeform 8"/>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9" name="TextBox 9"/>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4</a:t>
              </a:r>
            </a:p>
          </p:txBody>
        </p:sp>
      </p:grpSp>
      <p:sp>
        <p:nvSpPr>
          <p:cNvPr id="11" name="Freeform 11"/>
          <p:cNvSpPr/>
          <p:nvPr/>
        </p:nvSpPr>
        <p:spPr>
          <a:xfrm>
            <a:off x="7512165" y="-1553858"/>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892058" y="9048108"/>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866775"/>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REAL-WORLD APPLICATIONS</a:t>
            </a:r>
          </a:p>
        </p:txBody>
      </p:sp>
      <p:sp>
        <p:nvSpPr>
          <p:cNvPr id="3" name="TextBox 3"/>
          <p:cNvSpPr txBox="1"/>
          <p:nvPr/>
        </p:nvSpPr>
        <p:spPr>
          <a:xfrm>
            <a:off x="1764990" y="2553468"/>
            <a:ext cx="15656777" cy="7240680"/>
          </a:xfrm>
          <a:prstGeom prst="rect">
            <a:avLst/>
          </a:prstGeom>
        </p:spPr>
        <p:txBody>
          <a:bodyPr lIns="0" tIns="0" rIns="0" bIns="0" rtlCol="0" anchor="t">
            <a:spAutoFit/>
          </a:bodyPr>
          <a:lstStyle/>
          <a:p>
            <a:pPr marL="902461" lvl="1" indent="-451231" algn="l">
              <a:lnSpc>
                <a:spcPts val="5851"/>
              </a:lnSpc>
              <a:buFont typeface="Arial"/>
              <a:buChar char="•"/>
            </a:pPr>
            <a:r>
              <a:rPr lang="en-US" sz="4179" u="sng">
                <a:solidFill>
                  <a:srgbClr val="000000"/>
                </a:solidFill>
                <a:latin typeface="Alatsi Bold"/>
              </a:rPr>
              <a:t>Logistic Growth Model:</a:t>
            </a:r>
            <a:r>
              <a:rPr lang="en-US" sz="4179">
                <a:solidFill>
                  <a:srgbClr val="000000"/>
                </a:solidFill>
                <a:latin typeface="Alatsi Bold"/>
              </a:rPr>
              <a:t> Describes how populations grow exponentially at first but then level off as they reach their carrying capacity.</a:t>
            </a:r>
          </a:p>
          <a:p>
            <a:pPr marL="902461" lvl="1" indent="-451231" algn="l">
              <a:lnSpc>
                <a:spcPts val="5851"/>
              </a:lnSpc>
              <a:buFont typeface="Arial"/>
              <a:buChar char="•"/>
            </a:pPr>
            <a:r>
              <a:rPr lang="en-US" sz="4179" u="sng">
                <a:solidFill>
                  <a:srgbClr val="000000"/>
                </a:solidFill>
                <a:latin typeface="Alatsi Bold"/>
              </a:rPr>
              <a:t>Diode Equation</a:t>
            </a:r>
            <a:r>
              <a:rPr lang="en-US" sz="4179">
                <a:solidFill>
                  <a:srgbClr val="000000"/>
                </a:solidFill>
                <a:latin typeface="Alatsi Bold"/>
              </a:rPr>
              <a:t>: Describes the current-voltage relationship in diodes, crucial for understanding and designing electronic circuits.</a:t>
            </a:r>
          </a:p>
          <a:p>
            <a:pPr marL="902461" lvl="1" indent="-451231" algn="l">
              <a:lnSpc>
                <a:spcPts val="5851"/>
              </a:lnSpc>
              <a:buFont typeface="Arial"/>
              <a:buChar char="•"/>
            </a:pPr>
            <a:r>
              <a:rPr lang="en-US" sz="4179" u="sng">
                <a:solidFill>
                  <a:srgbClr val="000000"/>
                </a:solidFill>
                <a:latin typeface="Alatsi Bold"/>
              </a:rPr>
              <a:t>Rectangular Field Problem:</a:t>
            </a:r>
            <a:r>
              <a:rPr lang="en-US" sz="4179">
                <a:solidFill>
                  <a:srgbClr val="000000"/>
                </a:solidFill>
                <a:latin typeface="Alatsi Bold"/>
              </a:rPr>
              <a:t> Helps in urban planning and agriculture by finding the dimensions of a rectangular field given its perimeter and area.</a:t>
            </a:r>
          </a:p>
          <a:p>
            <a:pPr algn="l">
              <a:lnSpc>
                <a:spcPts val="4462"/>
              </a:lnSpc>
            </a:pPr>
            <a:endParaRPr lang="en-US" sz="4179">
              <a:solidFill>
                <a:srgbClr val="000000"/>
              </a:solidFill>
              <a:latin typeface="Alatsi Bold"/>
            </a:endParaRPr>
          </a:p>
        </p:txBody>
      </p:sp>
      <p:grpSp>
        <p:nvGrpSpPr>
          <p:cNvPr id="4" name="Group 4"/>
          <p:cNvGrpSpPr/>
          <p:nvPr/>
        </p:nvGrpSpPr>
        <p:grpSpPr>
          <a:xfrm>
            <a:off x="627362" y="0"/>
            <a:ext cx="937061" cy="10287000"/>
            <a:chOff x="0" y="0"/>
            <a:chExt cx="246798" cy="2709333"/>
          </a:xfrm>
        </p:grpSpPr>
        <p:sp>
          <p:nvSpPr>
            <p:cNvPr id="5" name="Freeform 5"/>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6" name="TextBox 6"/>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7" name="AutoShape 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8" name="AutoShape 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9" name="Group 9"/>
          <p:cNvGrpSpPr/>
          <p:nvPr/>
        </p:nvGrpSpPr>
        <p:grpSpPr>
          <a:xfrm>
            <a:off x="15859155" y="0"/>
            <a:ext cx="1562612" cy="1673225"/>
            <a:chOff x="0" y="0"/>
            <a:chExt cx="2083482" cy="2230967"/>
          </a:xfrm>
        </p:grpSpPr>
        <p:grpSp>
          <p:nvGrpSpPr>
            <p:cNvPr id="10" name="Group 10"/>
            <p:cNvGrpSpPr/>
            <p:nvPr/>
          </p:nvGrpSpPr>
          <p:grpSpPr>
            <a:xfrm>
              <a:off x="75599" y="0"/>
              <a:ext cx="1932284" cy="2230967"/>
              <a:chOff x="0" y="0"/>
              <a:chExt cx="703982" cy="812800"/>
            </a:xfrm>
          </p:grpSpPr>
          <p:sp>
            <p:nvSpPr>
              <p:cNvPr id="11" name="Freeform 1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2" name="TextBox 1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5</a:t>
              </a:r>
            </a:p>
          </p:txBody>
        </p:sp>
      </p:grpSp>
      <p:sp>
        <p:nvSpPr>
          <p:cNvPr id="14" name="Freeform 14"/>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866775"/>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LOGISTIC GROWTH MODEL</a:t>
            </a:r>
          </a:p>
        </p:txBody>
      </p:sp>
      <p:sp>
        <p:nvSpPr>
          <p:cNvPr id="3" name="TextBox 3"/>
          <p:cNvSpPr txBox="1"/>
          <p:nvPr/>
        </p:nvSpPr>
        <p:spPr>
          <a:xfrm>
            <a:off x="1602523" y="2422526"/>
            <a:ext cx="15656777" cy="7240680"/>
          </a:xfrm>
          <a:prstGeom prst="rect">
            <a:avLst/>
          </a:prstGeom>
        </p:spPr>
        <p:txBody>
          <a:bodyPr lIns="0" tIns="0" rIns="0" bIns="0" rtlCol="0" anchor="t">
            <a:spAutoFit/>
          </a:bodyPr>
          <a:lstStyle/>
          <a:p>
            <a:pPr marL="902461" lvl="1" indent="-451231" algn="l">
              <a:lnSpc>
                <a:spcPts val="5851"/>
              </a:lnSpc>
              <a:buFont typeface="Arial"/>
              <a:buChar char="•"/>
            </a:pPr>
            <a:r>
              <a:rPr lang="en-US" sz="4179">
                <a:solidFill>
                  <a:srgbClr val="000000"/>
                </a:solidFill>
                <a:latin typeface="Alatsi Bold"/>
                <a:ea typeface="Alatsi Bold"/>
              </a:rPr>
              <a:t>Equation:𝑑𝑃/𝑑𝑡=𝑟.𝑃(1−𝑃/𝐾)</a:t>
            </a:r>
          </a:p>
          <a:p>
            <a:pPr marL="902461" lvl="1" indent="-451231" algn="l">
              <a:lnSpc>
                <a:spcPts val="5851"/>
              </a:lnSpc>
              <a:buFont typeface="Arial"/>
              <a:buChar char="•"/>
            </a:pPr>
            <a:r>
              <a:rPr lang="en-US" sz="4179">
                <a:solidFill>
                  <a:srgbClr val="000000"/>
                </a:solidFill>
                <a:latin typeface="Alatsi Bold"/>
                <a:ea typeface="Alatsi Bold"/>
              </a:rPr>
              <a:t>𝑃 = population size</a:t>
            </a:r>
          </a:p>
          <a:p>
            <a:pPr marL="902461" lvl="1" indent="-451231" algn="l">
              <a:lnSpc>
                <a:spcPts val="5851"/>
              </a:lnSpc>
              <a:buFont typeface="Arial"/>
              <a:buChar char="•"/>
            </a:pPr>
            <a:r>
              <a:rPr lang="en-US" sz="4179">
                <a:solidFill>
                  <a:srgbClr val="000000"/>
                </a:solidFill>
                <a:latin typeface="Alatsi Bold"/>
                <a:ea typeface="Alatsi Bold"/>
              </a:rPr>
              <a:t>𝑟 = intrinsic growth rate</a:t>
            </a:r>
          </a:p>
          <a:p>
            <a:pPr marL="902461" lvl="1" indent="-451231" algn="l">
              <a:lnSpc>
                <a:spcPts val="5851"/>
              </a:lnSpc>
              <a:buFont typeface="Arial"/>
              <a:buChar char="•"/>
            </a:pPr>
            <a:r>
              <a:rPr lang="en-US" sz="4179">
                <a:solidFill>
                  <a:srgbClr val="000000"/>
                </a:solidFill>
                <a:latin typeface="Alatsi Bold"/>
                <a:ea typeface="Alatsi Bold"/>
              </a:rPr>
              <a:t>𝐾 = carrying capacity</a:t>
            </a:r>
          </a:p>
          <a:p>
            <a:pPr algn="l">
              <a:lnSpc>
                <a:spcPts val="5851"/>
              </a:lnSpc>
            </a:pPr>
            <a:endParaRPr lang="en-US" sz="4179">
              <a:solidFill>
                <a:srgbClr val="000000"/>
              </a:solidFill>
              <a:latin typeface="Alatsi Bold"/>
              <a:ea typeface="Alatsi Bold"/>
            </a:endParaRPr>
          </a:p>
          <a:p>
            <a:pPr algn="l">
              <a:lnSpc>
                <a:spcPts val="5851"/>
              </a:lnSpc>
            </a:pPr>
            <a:r>
              <a:rPr lang="en-US" sz="4179">
                <a:solidFill>
                  <a:srgbClr val="000000"/>
                </a:solidFill>
                <a:latin typeface="Alatsi Bold"/>
              </a:rPr>
              <a:t>Description:</a:t>
            </a:r>
          </a:p>
          <a:p>
            <a:pPr algn="l">
              <a:lnSpc>
                <a:spcPts val="5851"/>
              </a:lnSpc>
            </a:pPr>
            <a:r>
              <a:rPr lang="en-US" sz="4179">
                <a:solidFill>
                  <a:srgbClr val="000000"/>
                </a:solidFill>
                <a:latin typeface="Alatsi Bold"/>
              </a:rPr>
              <a:t>The logistic growth model shows how a population grows rapidly at first and then slows as it approaches the carrying capacity.</a:t>
            </a:r>
          </a:p>
          <a:p>
            <a:pPr algn="l">
              <a:lnSpc>
                <a:spcPts val="5851"/>
              </a:lnSpc>
            </a:pPr>
            <a:endParaRPr lang="en-US" sz="4179">
              <a:solidFill>
                <a:srgbClr val="000000"/>
              </a:solidFill>
              <a:latin typeface="Alatsi Bold"/>
            </a:endParaRPr>
          </a:p>
          <a:p>
            <a:pPr algn="l">
              <a:lnSpc>
                <a:spcPts val="4462"/>
              </a:lnSpc>
            </a:pPr>
            <a:endParaRPr lang="en-US" sz="4179">
              <a:solidFill>
                <a:srgbClr val="000000"/>
              </a:solidFill>
              <a:latin typeface="Alatsi Bold"/>
            </a:endParaRPr>
          </a:p>
        </p:txBody>
      </p:sp>
      <p:grpSp>
        <p:nvGrpSpPr>
          <p:cNvPr id="4" name="Group 4"/>
          <p:cNvGrpSpPr/>
          <p:nvPr/>
        </p:nvGrpSpPr>
        <p:grpSpPr>
          <a:xfrm>
            <a:off x="627362" y="0"/>
            <a:ext cx="937061" cy="10287000"/>
            <a:chOff x="0" y="0"/>
            <a:chExt cx="246798" cy="2709333"/>
          </a:xfrm>
        </p:grpSpPr>
        <p:sp>
          <p:nvSpPr>
            <p:cNvPr id="5" name="Freeform 5"/>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6" name="TextBox 6"/>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7" name="AutoShape 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8" name="AutoShape 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9" name="Group 9"/>
          <p:cNvGrpSpPr/>
          <p:nvPr/>
        </p:nvGrpSpPr>
        <p:grpSpPr>
          <a:xfrm>
            <a:off x="15859155" y="0"/>
            <a:ext cx="1562612" cy="1673225"/>
            <a:chOff x="0" y="0"/>
            <a:chExt cx="2083482" cy="2230967"/>
          </a:xfrm>
        </p:grpSpPr>
        <p:grpSp>
          <p:nvGrpSpPr>
            <p:cNvPr id="10" name="Group 10"/>
            <p:cNvGrpSpPr/>
            <p:nvPr/>
          </p:nvGrpSpPr>
          <p:grpSpPr>
            <a:xfrm>
              <a:off x="75599" y="0"/>
              <a:ext cx="1932284" cy="2230967"/>
              <a:chOff x="0" y="0"/>
              <a:chExt cx="703982" cy="812800"/>
            </a:xfrm>
          </p:grpSpPr>
          <p:sp>
            <p:nvSpPr>
              <p:cNvPr id="11" name="Freeform 1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2" name="TextBox 1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6</a:t>
              </a:r>
            </a:p>
          </p:txBody>
        </p:sp>
      </p:grpSp>
      <p:sp>
        <p:nvSpPr>
          <p:cNvPr id="14" name="Freeform 14"/>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28700" y="449282"/>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DIODE EQUATION</a:t>
            </a:r>
          </a:p>
        </p:txBody>
      </p:sp>
      <p:sp>
        <p:nvSpPr>
          <p:cNvPr id="3" name="TextBox 3"/>
          <p:cNvSpPr txBox="1"/>
          <p:nvPr/>
        </p:nvSpPr>
        <p:spPr>
          <a:xfrm>
            <a:off x="1602523" y="2031629"/>
            <a:ext cx="15656777" cy="9451750"/>
          </a:xfrm>
          <a:prstGeom prst="rect">
            <a:avLst/>
          </a:prstGeom>
        </p:spPr>
        <p:txBody>
          <a:bodyPr lIns="0" tIns="0" rIns="0" bIns="0" rtlCol="0" anchor="t">
            <a:spAutoFit/>
          </a:bodyPr>
          <a:lstStyle/>
          <a:p>
            <a:pPr marL="880872" lvl="1" indent="-440436" algn="l">
              <a:lnSpc>
                <a:spcPts val="5711"/>
              </a:lnSpc>
              <a:buFont typeface="Arial"/>
              <a:buChar char="•"/>
            </a:pPr>
            <a:r>
              <a:rPr lang="en-US" sz="4079">
                <a:solidFill>
                  <a:srgbClr val="000000"/>
                </a:solidFill>
                <a:latin typeface="Alatsi Bold"/>
                <a:ea typeface="Alatsi Bold"/>
              </a:rPr>
              <a:t>Equation:𝐼=𝐼𝑆(𝑒^𝑉𝐷/𝑛𝑉𝑇−1)</a:t>
            </a:r>
          </a:p>
          <a:p>
            <a:pPr marL="902461" lvl="1" indent="-451231" algn="l">
              <a:lnSpc>
                <a:spcPts val="5851"/>
              </a:lnSpc>
              <a:buFont typeface="Arial"/>
              <a:buChar char="•"/>
            </a:pPr>
            <a:r>
              <a:rPr lang="en-US" sz="4179">
                <a:solidFill>
                  <a:srgbClr val="000000"/>
                </a:solidFill>
                <a:latin typeface="Alatsi Bold"/>
                <a:ea typeface="Alatsi Bold"/>
              </a:rPr>
              <a:t>𝐼 = current through the diode</a:t>
            </a:r>
          </a:p>
          <a:p>
            <a:pPr marL="902461" lvl="1" indent="-451231" algn="l">
              <a:lnSpc>
                <a:spcPts val="5851"/>
              </a:lnSpc>
              <a:buFont typeface="Arial"/>
              <a:buChar char="•"/>
            </a:pPr>
            <a:r>
              <a:rPr lang="en-US" sz="4179">
                <a:solidFill>
                  <a:srgbClr val="000000"/>
                </a:solidFill>
                <a:latin typeface="Alatsi Bold"/>
                <a:ea typeface="Alatsi Bold"/>
              </a:rPr>
              <a:t>𝐼𝑆​ = reverse saturation current</a:t>
            </a:r>
          </a:p>
          <a:p>
            <a:pPr marL="902461" lvl="1" indent="-451231" algn="l">
              <a:lnSpc>
                <a:spcPts val="5851"/>
              </a:lnSpc>
              <a:buFont typeface="Arial"/>
              <a:buChar char="•"/>
            </a:pPr>
            <a:r>
              <a:rPr lang="en-US" sz="4179">
                <a:solidFill>
                  <a:srgbClr val="000000"/>
                </a:solidFill>
                <a:latin typeface="Alatsi Bold"/>
                <a:ea typeface="Alatsi Bold"/>
              </a:rPr>
              <a:t>𝑉𝐷​ = voltage across the diode</a:t>
            </a:r>
          </a:p>
          <a:p>
            <a:pPr marL="902461" lvl="1" indent="-451231" algn="l">
              <a:lnSpc>
                <a:spcPts val="5851"/>
              </a:lnSpc>
              <a:buFont typeface="Arial"/>
              <a:buChar char="•"/>
            </a:pPr>
            <a:r>
              <a:rPr lang="en-US" sz="4179">
                <a:solidFill>
                  <a:srgbClr val="000000"/>
                </a:solidFill>
                <a:latin typeface="Alatsi Bold"/>
                <a:ea typeface="Alatsi Bold"/>
              </a:rPr>
              <a:t>𝑛 = ideality factor</a:t>
            </a:r>
          </a:p>
          <a:p>
            <a:pPr marL="902461" lvl="1" indent="-451231" algn="l">
              <a:lnSpc>
                <a:spcPts val="5851"/>
              </a:lnSpc>
              <a:buFont typeface="Arial"/>
              <a:buChar char="•"/>
            </a:pPr>
            <a:r>
              <a:rPr lang="en-US" sz="4179">
                <a:solidFill>
                  <a:srgbClr val="000000"/>
                </a:solidFill>
                <a:latin typeface="Alatsi Bold"/>
                <a:ea typeface="Alatsi Bold"/>
              </a:rPr>
              <a:t>𝑉𝑇​ = thermal voltage</a:t>
            </a:r>
          </a:p>
          <a:p>
            <a:pPr algn="l">
              <a:lnSpc>
                <a:spcPts val="5851"/>
              </a:lnSpc>
            </a:pPr>
            <a:r>
              <a:rPr lang="en-US" sz="4179">
                <a:solidFill>
                  <a:srgbClr val="000000"/>
                </a:solidFill>
                <a:latin typeface="Alatsi Bold"/>
              </a:rPr>
              <a:t>Description:</a:t>
            </a:r>
          </a:p>
          <a:p>
            <a:pPr algn="l">
              <a:lnSpc>
                <a:spcPts val="5851"/>
              </a:lnSpc>
            </a:pPr>
            <a:r>
              <a:rPr lang="en-US" sz="4179">
                <a:solidFill>
                  <a:srgbClr val="000000"/>
                </a:solidFill>
                <a:latin typeface="Alatsi Bold"/>
              </a:rPr>
              <a:t>The diode equation models the current-voltage relationship in diodes, essential for designing and understanding electronic circuits.</a:t>
            </a:r>
          </a:p>
          <a:p>
            <a:pPr algn="l">
              <a:lnSpc>
                <a:spcPts val="5851"/>
              </a:lnSpc>
            </a:pPr>
            <a:endParaRPr lang="en-US" sz="4179">
              <a:solidFill>
                <a:srgbClr val="000000"/>
              </a:solidFill>
              <a:latin typeface="Alatsi Bold"/>
            </a:endParaRPr>
          </a:p>
          <a:p>
            <a:pPr algn="l">
              <a:lnSpc>
                <a:spcPts val="5851"/>
              </a:lnSpc>
            </a:pPr>
            <a:endParaRPr lang="en-US" sz="4179">
              <a:solidFill>
                <a:srgbClr val="000000"/>
              </a:solidFill>
              <a:latin typeface="Alatsi Bold"/>
            </a:endParaRPr>
          </a:p>
          <a:p>
            <a:pPr algn="l">
              <a:lnSpc>
                <a:spcPts val="4462"/>
              </a:lnSpc>
            </a:pPr>
            <a:endParaRPr lang="en-US" sz="4179">
              <a:solidFill>
                <a:srgbClr val="000000"/>
              </a:solidFill>
              <a:latin typeface="Alatsi Bold"/>
            </a:endParaRPr>
          </a:p>
        </p:txBody>
      </p:sp>
      <p:grpSp>
        <p:nvGrpSpPr>
          <p:cNvPr id="4" name="Group 4"/>
          <p:cNvGrpSpPr/>
          <p:nvPr/>
        </p:nvGrpSpPr>
        <p:grpSpPr>
          <a:xfrm>
            <a:off x="627362" y="0"/>
            <a:ext cx="937061" cy="10287000"/>
            <a:chOff x="0" y="0"/>
            <a:chExt cx="246798" cy="2709333"/>
          </a:xfrm>
        </p:grpSpPr>
        <p:sp>
          <p:nvSpPr>
            <p:cNvPr id="5" name="Freeform 5"/>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6" name="TextBox 6"/>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7" name="AutoShape 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8" name="AutoShape 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9" name="Group 9"/>
          <p:cNvGrpSpPr/>
          <p:nvPr/>
        </p:nvGrpSpPr>
        <p:grpSpPr>
          <a:xfrm>
            <a:off x="15859155" y="0"/>
            <a:ext cx="1562612" cy="1673225"/>
            <a:chOff x="0" y="0"/>
            <a:chExt cx="2083482" cy="2230967"/>
          </a:xfrm>
        </p:grpSpPr>
        <p:grpSp>
          <p:nvGrpSpPr>
            <p:cNvPr id="10" name="Group 10"/>
            <p:cNvGrpSpPr/>
            <p:nvPr/>
          </p:nvGrpSpPr>
          <p:grpSpPr>
            <a:xfrm>
              <a:off x="75599" y="0"/>
              <a:ext cx="1932284" cy="2230967"/>
              <a:chOff x="0" y="0"/>
              <a:chExt cx="703982" cy="812800"/>
            </a:xfrm>
          </p:grpSpPr>
          <p:sp>
            <p:nvSpPr>
              <p:cNvPr id="11" name="Freeform 1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2" name="TextBox 1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7</a:t>
              </a:r>
            </a:p>
          </p:txBody>
        </p:sp>
      </p:grpSp>
      <p:sp>
        <p:nvSpPr>
          <p:cNvPr id="14" name="Freeform 14"/>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627362" y="222250"/>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RECTANGULAR FIELD PROBLEM</a:t>
            </a:r>
          </a:p>
        </p:txBody>
      </p:sp>
      <p:sp>
        <p:nvSpPr>
          <p:cNvPr id="3" name="TextBox 3"/>
          <p:cNvSpPr txBox="1"/>
          <p:nvPr/>
        </p:nvSpPr>
        <p:spPr>
          <a:xfrm>
            <a:off x="1564423" y="1597025"/>
            <a:ext cx="15656777" cy="8930415"/>
          </a:xfrm>
          <a:prstGeom prst="rect">
            <a:avLst/>
          </a:prstGeom>
        </p:spPr>
        <p:txBody>
          <a:bodyPr lIns="0" tIns="0" rIns="0" bIns="0" rtlCol="0" anchor="t">
            <a:spAutoFit/>
          </a:bodyPr>
          <a:lstStyle/>
          <a:p>
            <a:pPr algn="l">
              <a:lnSpc>
                <a:spcPts val="5572"/>
              </a:lnSpc>
            </a:pPr>
            <a:r>
              <a:rPr lang="en-US" sz="3980">
                <a:solidFill>
                  <a:srgbClr val="000000"/>
                </a:solidFill>
                <a:latin typeface="Alatsi Bold"/>
              </a:rPr>
              <a:t>Given:</a:t>
            </a:r>
          </a:p>
          <a:p>
            <a:pPr marL="859283" lvl="1" indent="-429641" algn="l">
              <a:lnSpc>
                <a:spcPts val="5572"/>
              </a:lnSpc>
              <a:buFont typeface="Arial"/>
              <a:buChar char="•"/>
            </a:pPr>
            <a:r>
              <a:rPr lang="en-US" sz="3980">
                <a:solidFill>
                  <a:srgbClr val="000000"/>
                </a:solidFill>
                <a:latin typeface="Alatsi Bold"/>
                <a:ea typeface="Alatsi Bold"/>
              </a:rPr>
              <a:t>Perimeter (𝑃) = 2(𝑙+𝑤)</a:t>
            </a:r>
          </a:p>
          <a:p>
            <a:pPr marL="859283" lvl="1" indent="-429641" algn="l">
              <a:lnSpc>
                <a:spcPts val="5572"/>
              </a:lnSpc>
              <a:buFont typeface="Arial"/>
              <a:buChar char="•"/>
            </a:pPr>
            <a:r>
              <a:rPr lang="en-US" sz="3980">
                <a:solidFill>
                  <a:srgbClr val="000000"/>
                </a:solidFill>
                <a:latin typeface="Alatsi Bold"/>
                <a:ea typeface="Alatsi Bold"/>
              </a:rPr>
              <a:t>Area (𝐴) = 𝑙×𝑤</a:t>
            </a:r>
          </a:p>
          <a:p>
            <a:pPr algn="l">
              <a:lnSpc>
                <a:spcPts val="5572"/>
              </a:lnSpc>
            </a:pPr>
            <a:r>
              <a:rPr lang="en-US" sz="3980">
                <a:solidFill>
                  <a:srgbClr val="000000"/>
                </a:solidFill>
                <a:latin typeface="Alatsi Bold"/>
              </a:rPr>
              <a:t>Equations:</a:t>
            </a:r>
          </a:p>
          <a:p>
            <a:pPr marL="859283" lvl="1" indent="-429641" algn="l">
              <a:lnSpc>
                <a:spcPts val="5572"/>
              </a:lnSpc>
              <a:buFont typeface="Arial"/>
              <a:buChar char="•"/>
            </a:pPr>
            <a:r>
              <a:rPr lang="en-US" sz="3980">
                <a:solidFill>
                  <a:srgbClr val="000000"/>
                </a:solidFill>
                <a:latin typeface="Alatsi Bold"/>
                <a:ea typeface="Alatsi Bold"/>
              </a:rPr>
              <a:t>𝑃=2(𝑙+𝑤)</a:t>
            </a:r>
          </a:p>
          <a:p>
            <a:pPr marL="859283" lvl="1" indent="-429641" algn="l">
              <a:lnSpc>
                <a:spcPts val="5572"/>
              </a:lnSpc>
              <a:buFont typeface="Arial"/>
              <a:buChar char="•"/>
            </a:pPr>
            <a:r>
              <a:rPr lang="en-US" sz="3980">
                <a:solidFill>
                  <a:srgbClr val="000000"/>
                </a:solidFill>
                <a:latin typeface="Alatsi Bold"/>
                <a:ea typeface="Alatsi Bold"/>
              </a:rPr>
              <a:t>𝐴=𝑙×𝑤</a:t>
            </a:r>
          </a:p>
          <a:p>
            <a:pPr marL="859283" lvl="1" indent="-429641" algn="l">
              <a:lnSpc>
                <a:spcPts val="5572"/>
              </a:lnSpc>
              <a:buFont typeface="Arial"/>
              <a:buChar char="•"/>
            </a:pPr>
            <a:r>
              <a:rPr lang="en-US" sz="3980">
                <a:solidFill>
                  <a:srgbClr val="000000"/>
                </a:solidFill>
                <a:latin typeface="Alatsi Bold"/>
                <a:ea typeface="Alatsi Bold"/>
              </a:rPr>
              <a:t>𝑙 = length of the field</a:t>
            </a:r>
          </a:p>
          <a:p>
            <a:pPr marL="859283" lvl="1" indent="-429641" algn="l">
              <a:lnSpc>
                <a:spcPts val="5572"/>
              </a:lnSpc>
              <a:buFont typeface="Arial"/>
              <a:buChar char="•"/>
            </a:pPr>
            <a:r>
              <a:rPr lang="en-US" sz="3980">
                <a:solidFill>
                  <a:srgbClr val="000000"/>
                </a:solidFill>
                <a:latin typeface="Alatsi Bold"/>
                <a:ea typeface="Alatsi Bold"/>
              </a:rPr>
              <a:t>𝑤 = width of the field</a:t>
            </a:r>
          </a:p>
          <a:p>
            <a:pPr algn="l">
              <a:lnSpc>
                <a:spcPts val="5572"/>
              </a:lnSpc>
            </a:pPr>
            <a:r>
              <a:rPr lang="en-US" sz="3980">
                <a:solidFill>
                  <a:srgbClr val="000000"/>
                </a:solidFill>
                <a:latin typeface="Alatsi Bold"/>
              </a:rPr>
              <a:t>Description:</a:t>
            </a:r>
          </a:p>
          <a:p>
            <a:pPr algn="l">
              <a:lnSpc>
                <a:spcPts val="5432"/>
              </a:lnSpc>
            </a:pPr>
            <a:r>
              <a:rPr lang="en-US" sz="3880">
                <a:solidFill>
                  <a:srgbClr val="000000"/>
                </a:solidFill>
                <a:latin typeface="Alatsi Bold"/>
              </a:rPr>
              <a:t>These equations help determine the dimensions of a rectangular field when given the perimeter and area, useful in urban planning and agriculture.</a:t>
            </a:r>
          </a:p>
          <a:p>
            <a:pPr algn="l">
              <a:lnSpc>
                <a:spcPts val="4322"/>
              </a:lnSpc>
            </a:pPr>
            <a:endParaRPr lang="en-US" sz="3880">
              <a:solidFill>
                <a:srgbClr val="000000"/>
              </a:solidFill>
              <a:latin typeface="Alatsi Bold"/>
            </a:endParaRPr>
          </a:p>
        </p:txBody>
      </p:sp>
      <p:grpSp>
        <p:nvGrpSpPr>
          <p:cNvPr id="4" name="Group 4"/>
          <p:cNvGrpSpPr/>
          <p:nvPr/>
        </p:nvGrpSpPr>
        <p:grpSpPr>
          <a:xfrm>
            <a:off x="627362" y="0"/>
            <a:ext cx="937061" cy="10287000"/>
            <a:chOff x="0" y="0"/>
            <a:chExt cx="246798" cy="2709333"/>
          </a:xfrm>
        </p:grpSpPr>
        <p:sp>
          <p:nvSpPr>
            <p:cNvPr id="5" name="Freeform 5"/>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6" name="TextBox 6"/>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7" name="AutoShape 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8" name="AutoShape 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9" name="Group 9"/>
          <p:cNvGrpSpPr/>
          <p:nvPr/>
        </p:nvGrpSpPr>
        <p:grpSpPr>
          <a:xfrm>
            <a:off x="15859155" y="0"/>
            <a:ext cx="1562612" cy="1673225"/>
            <a:chOff x="0" y="0"/>
            <a:chExt cx="2083482" cy="2230967"/>
          </a:xfrm>
        </p:grpSpPr>
        <p:grpSp>
          <p:nvGrpSpPr>
            <p:cNvPr id="10" name="Group 10"/>
            <p:cNvGrpSpPr/>
            <p:nvPr/>
          </p:nvGrpSpPr>
          <p:grpSpPr>
            <a:xfrm>
              <a:off x="75599" y="0"/>
              <a:ext cx="1932284" cy="2230967"/>
              <a:chOff x="0" y="0"/>
              <a:chExt cx="703982" cy="812800"/>
            </a:xfrm>
          </p:grpSpPr>
          <p:sp>
            <p:nvSpPr>
              <p:cNvPr id="11" name="Freeform 1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2" name="TextBox 1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8</a:t>
              </a:r>
            </a:p>
          </p:txBody>
        </p:sp>
      </p:grpSp>
      <p:sp>
        <p:nvSpPr>
          <p:cNvPr id="14" name="Freeform 14"/>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1095893" y="511903"/>
            <a:ext cx="15611761"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Bold"/>
              </a:rPr>
              <a:t>CONCLUSION</a:t>
            </a:r>
          </a:p>
        </p:txBody>
      </p:sp>
      <p:sp>
        <p:nvSpPr>
          <p:cNvPr id="3" name="TextBox 3"/>
          <p:cNvSpPr txBox="1"/>
          <p:nvPr/>
        </p:nvSpPr>
        <p:spPr>
          <a:xfrm>
            <a:off x="1355968" y="2017620"/>
            <a:ext cx="15656777" cy="7240680"/>
          </a:xfrm>
          <a:prstGeom prst="rect">
            <a:avLst/>
          </a:prstGeom>
        </p:spPr>
        <p:txBody>
          <a:bodyPr lIns="0" tIns="0" rIns="0" bIns="0" rtlCol="0" anchor="t">
            <a:spAutoFit/>
          </a:bodyPr>
          <a:lstStyle/>
          <a:p>
            <a:pPr algn="just">
              <a:lnSpc>
                <a:spcPts val="5851"/>
              </a:lnSpc>
            </a:pPr>
            <a:endParaRPr/>
          </a:p>
          <a:p>
            <a:pPr marL="902461" lvl="1" indent="-451231" algn="just">
              <a:lnSpc>
                <a:spcPts val="5851"/>
              </a:lnSpc>
              <a:buFont typeface="Arial"/>
              <a:buChar char="•"/>
            </a:pPr>
            <a:r>
              <a:rPr lang="en-US" sz="4179">
                <a:solidFill>
                  <a:srgbClr val="000000"/>
                </a:solidFill>
                <a:latin typeface="Alatsi Bold"/>
              </a:rPr>
              <a:t>Nonlinear algebraic equations play a crucial role in mathematical modeling for various scientific and engineering disciplines.</a:t>
            </a:r>
          </a:p>
          <a:p>
            <a:pPr marL="902461" lvl="1" indent="-451231" algn="just">
              <a:lnSpc>
                <a:spcPts val="5851"/>
              </a:lnSpc>
              <a:buFont typeface="Arial"/>
              <a:buChar char="•"/>
            </a:pPr>
            <a:r>
              <a:rPr lang="en-US" sz="4179">
                <a:solidFill>
                  <a:srgbClr val="000000"/>
                </a:solidFill>
                <a:latin typeface="Alatsi Bold"/>
              </a:rPr>
              <a:t>Understanding numerical methods for solving these equations is essential for tackling complex real-world problems.</a:t>
            </a:r>
          </a:p>
          <a:p>
            <a:pPr marL="902461" lvl="1" indent="-451231" algn="just">
              <a:lnSpc>
                <a:spcPts val="5851"/>
              </a:lnSpc>
              <a:buFont typeface="Arial"/>
              <a:buChar char="•"/>
            </a:pPr>
            <a:r>
              <a:rPr lang="en-US" sz="4179">
                <a:solidFill>
                  <a:srgbClr val="000000"/>
                </a:solidFill>
                <a:latin typeface="Alatsi Bold"/>
              </a:rPr>
              <a:t>MATLAB and Python provide powerful tools for implementing and solving nonlinear equations, enabling researchers to find solutions efficiently.</a:t>
            </a:r>
          </a:p>
          <a:p>
            <a:pPr algn="just">
              <a:lnSpc>
                <a:spcPts val="4462"/>
              </a:lnSpc>
            </a:pPr>
            <a:endParaRPr lang="en-US" sz="4179">
              <a:solidFill>
                <a:srgbClr val="000000"/>
              </a:solidFill>
              <a:latin typeface="Alatsi Bold"/>
            </a:endParaRPr>
          </a:p>
        </p:txBody>
      </p:sp>
      <p:grpSp>
        <p:nvGrpSpPr>
          <p:cNvPr id="4" name="Group 4"/>
          <p:cNvGrpSpPr/>
          <p:nvPr/>
        </p:nvGrpSpPr>
        <p:grpSpPr>
          <a:xfrm>
            <a:off x="627362" y="0"/>
            <a:ext cx="937061" cy="10287000"/>
            <a:chOff x="0" y="0"/>
            <a:chExt cx="246798" cy="2709333"/>
          </a:xfrm>
        </p:grpSpPr>
        <p:sp>
          <p:nvSpPr>
            <p:cNvPr id="5" name="Freeform 5"/>
            <p:cNvSpPr/>
            <p:nvPr/>
          </p:nvSpPr>
          <p:spPr>
            <a:xfrm>
              <a:off x="0" y="0"/>
              <a:ext cx="246798" cy="2709333"/>
            </a:xfrm>
            <a:custGeom>
              <a:avLst/>
              <a:gdLst/>
              <a:ahLst/>
              <a:cxnLst/>
              <a:rect l="l" t="t" r="r" b="b"/>
              <a:pathLst>
                <a:path w="246798" h="2709333">
                  <a:moveTo>
                    <a:pt x="0" y="0"/>
                  </a:moveTo>
                  <a:lnTo>
                    <a:pt x="246798" y="0"/>
                  </a:lnTo>
                  <a:lnTo>
                    <a:pt x="246798" y="2709333"/>
                  </a:lnTo>
                  <a:lnTo>
                    <a:pt x="0" y="2709333"/>
                  </a:lnTo>
                  <a:close/>
                </a:path>
              </a:pathLst>
            </a:custGeom>
            <a:solidFill>
              <a:srgbClr val="F6F3EB"/>
            </a:solidFill>
          </p:spPr>
        </p:sp>
        <p:sp>
          <p:nvSpPr>
            <p:cNvPr id="6" name="TextBox 6"/>
            <p:cNvSpPr txBox="1"/>
            <p:nvPr/>
          </p:nvSpPr>
          <p:spPr>
            <a:xfrm>
              <a:off x="0" y="-38100"/>
              <a:ext cx="246798" cy="2747433"/>
            </a:xfrm>
            <a:prstGeom prst="rect">
              <a:avLst/>
            </a:prstGeom>
          </p:spPr>
          <p:txBody>
            <a:bodyPr lIns="50800" tIns="50800" rIns="50800" bIns="50800" rtlCol="0" anchor="ctr"/>
            <a:lstStyle/>
            <a:p>
              <a:pPr algn="ctr">
                <a:lnSpc>
                  <a:spcPts val="2659"/>
                </a:lnSpc>
              </a:pPr>
              <a:endParaRPr/>
            </a:p>
          </p:txBody>
        </p:sp>
      </p:grpSp>
      <p:sp>
        <p:nvSpPr>
          <p:cNvPr id="7" name="AutoShape 7"/>
          <p:cNvSpPr/>
          <p:nvPr/>
        </p:nvSpPr>
        <p:spPr>
          <a:xfrm flipH="1" flipV="1">
            <a:off x="1085850" y="7289441"/>
            <a:ext cx="5403" cy="2997456"/>
          </a:xfrm>
          <a:prstGeom prst="line">
            <a:avLst/>
          </a:prstGeom>
          <a:ln w="114300" cap="flat">
            <a:solidFill>
              <a:srgbClr val="9FC3D0"/>
            </a:solidFill>
            <a:prstDash val="solid"/>
            <a:headEnd type="none" w="sm" len="sm"/>
            <a:tailEnd type="none" w="sm" len="sm"/>
          </a:ln>
        </p:spPr>
      </p:sp>
      <p:sp>
        <p:nvSpPr>
          <p:cNvPr id="8" name="AutoShape 8"/>
          <p:cNvSpPr/>
          <p:nvPr/>
        </p:nvSpPr>
        <p:spPr>
          <a:xfrm flipH="1" flipV="1">
            <a:off x="1090490" y="-104525"/>
            <a:ext cx="5403" cy="2997456"/>
          </a:xfrm>
          <a:prstGeom prst="line">
            <a:avLst/>
          </a:prstGeom>
          <a:ln w="114300" cap="flat">
            <a:solidFill>
              <a:srgbClr val="9FC3D0"/>
            </a:solidFill>
            <a:prstDash val="solid"/>
            <a:headEnd type="none" w="sm" len="sm"/>
            <a:tailEnd type="none" w="sm" len="sm"/>
          </a:ln>
        </p:spPr>
      </p:sp>
      <p:grpSp>
        <p:nvGrpSpPr>
          <p:cNvPr id="9" name="Group 9"/>
          <p:cNvGrpSpPr/>
          <p:nvPr/>
        </p:nvGrpSpPr>
        <p:grpSpPr>
          <a:xfrm>
            <a:off x="15859155" y="0"/>
            <a:ext cx="1562612" cy="1673225"/>
            <a:chOff x="0" y="0"/>
            <a:chExt cx="2083482" cy="2230967"/>
          </a:xfrm>
        </p:grpSpPr>
        <p:grpSp>
          <p:nvGrpSpPr>
            <p:cNvPr id="10" name="Group 10"/>
            <p:cNvGrpSpPr/>
            <p:nvPr/>
          </p:nvGrpSpPr>
          <p:grpSpPr>
            <a:xfrm>
              <a:off x="75599" y="0"/>
              <a:ext cx="1932284" cy="2230967"/>
              <a:chOff x="0" y="0"/>
              <a:chExt cx="703982" cy="812800"/>
            </a:xfrm>
          </p:grpSpPr>
          <p:sp>
            <p:nvSpPr>
              <p:cNvPr id="11" name="Freeform 11"/>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id="12" name="TextBox 12"/>
              <p:cNvSpPr txBox="1"/>
              <p:nvPr/>
            </p:nvSpPr>
            <p:spPr>
              <a:xfrm>
                <a:off x="0" y="-47625"/>
                <a:ext cx="703982" cy="7334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0" y="437582"/>
              <a:ext cx="2083482" cy="1241504"/>
            </a:xfrm>
            <a:prstGeom prst="rect">
              <a:avLst/>
            </a:prstGeom>
          </p:spPr>
          <p:txBody>
            <a:bodyPr lIns="0" tIns="0" rIns="0" bIns="0" rtlCol="0" anchor="t">
              <a:spAutoFit/>
            </a:bodyPr>
            <a:lstStyle/>
            <a:p>
              <a:pPr algn="ctr">
                <a:lnSpc>
                  <a:spcPts val="7805"/>
                </a:lnSpc>
              </a:pPr>
              <a:r>
                <a:rPr lang="en-US" sz="5575">
                  <a:solidFill>
                    <a:srgbClr val="000000"/>
                  </a:solidFill>
                  <a:latin typeface="Open Sans Bold"/>
                </a:rPr>
                <a:t>9</a:t>
              </a:r>
            </a:p>
          </p:txBody>
        </p:sp>
      </p:grpSp>
      <p:sp>
        <p:nvSpPr>
          <p:cNvPr id="14" name="Freeform 14"/>
          <p:cNvSpPr/>
          <p:nvPr/>
        </p:nvSpPr>
        <p:spPr>
          <a:xfrm>
            <a:off x="9697545" y="8788169"/>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564423" y="-1641171"/>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Bold"/>
              </a:rPr>
              <a:t>THANK YOU</a:t>
            </a:r>
          </a:p>
        </p:txBody>
      </p:sp>
      <p:grpSp>
        <p:nvGrpSpPr>
          <p:cNvPr id="3" name="Group 3"/>
          <p:cNvGrpSpPr/>
          <p:nvPr/>
        </p:nvGrpSpPr>
        <p:grpSpPr>
          <a:xfrm>
            <a:off x="-31071" y="0"/>
            <a:ext cx="4239083" cy="10287000"/>
            <a:chOff x="0" y="0"/>
            <a:chExt cx="5652111" cy="13716000"/>
          </a:xfrm>
        </p:grpSpPr>
        <p:grpSp>
          <p:nvGrpSpPr>
            <p:cNvPr id="4" name="Group 4"/>
            <p:cNvGrpSpPr/>
            <p:nvPr/>
          </p:nvGrpSpPr>
          <p:grpSpPr>
            <a:xfrm>
              <a:off x="2826056" y="0"/>
              <a:ext cx="2826056" cy="13716000"/>
              <a:chOff x="0" y="0"/>
              <a:chExt cx="558233" cy="2709333"/>
            </a:xfrm>
          </p:grpSpPr>
          <p:sp>
            <p:nvSpPr>
              <p:cNvPr id="5" name="Freeform 5"/>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sp>
          <p:sp>
            <p:nvSpPr>
              <p:cNvPr id="6" name="TextBox 6"/>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413028" y="0"/>
              <a:ext cx="2826056" cy="13716000"/>
              <a:chOff x="0" y="0"/>
              <a:chExt cx="558233" cy="2709333"/>
            </a:xfrm>
          </p:grpSpPr>
          <p:sp>
            <p:nvSpPr>
              <p:cNvPr id="8" name="Freeform 8"/>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sp>
          <p:sp>
            <p:nvSpPr>
              <p:cNvPr id="9" name="TextBox 9"/>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2826056" cy="13716000"/>
              <a:chOff x="0" y="0"/>
              <a:chExt cx="558233" cy="2709333"/>
            </a:xfrm>
          </p:grpSpPr>
          <p:sp>
            <p:nvSpPr>
              <p:cNvPr id="11" name="Freeform 11"/>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sp>
          <p:sp>
            <p:nvSpPr>
              <p:cNvPr id="12" name="TextBox 12"/>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
        <p:nvSpPr>
          <p:cNvPr id="13" name="Freeform 13"/>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Freeform 14"/>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559</Words>
  <Application>Microsoft Office PowerPoint</Application>
  <PresentationFormat>Custom</PresentationFormat>
  <Paragraphs>64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Alatsi Bold</vt:lpstr>
      <vt:lpstr>Arial</vt:lpstr>
      <vt:lpstr>Open Sans Bold</vt:lpstr>
      <vt:lpstr>Calibri</vt:lpstr>
      <vt:lpstr>Alatsi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Pastel Minimalist Thesis Defense Presentation</dc:title>
  <dc:creator>Sheikh Alyan</dc:creator>
  <cp:lastModifiedBy>Sheikh Alyan/ITD/HO</cp:lastModifiedBy>
  <cp:revision>2</cp:revision>
  <dcterms:created xsi:type="dcterms:W3CDTF">2006-08-16T00:00:00Z</dcterms:created>
  <dcterms:modified xsi:type="dcterms:W3CDTF">2026-06-30T08:57:20Z</dcterms:modified>
  <dc:identifier>DAGFhAuTNT8</dc:identifier>
</cp:coreProperties>
</file>